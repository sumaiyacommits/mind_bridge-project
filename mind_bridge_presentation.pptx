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1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A2CB1D-205C-434D-B572-08FF47038C2D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6ECA3D5-716A-401A-B5B8-21A67EDDB7D0}">
      <dgm:prSet phldrT="[Text]" phldr="0"/>
      <dgm:spPr/>
      <dgm:t>
        <a:bodyPr/>
        <a:lstStyle/>
        <a:p>
          <a:r>
            <a:rPr lang="en-US" dirty="0"/>
            <a:t>User Interface/Frontend(HTML, CSS, JavaScript)</a:t>
          </a:r>
        </a:p>
      </dgm:t>
    </dgm:pt>
    <dgm:pt modelId="{F1DDE24C-188D-45C7-83A8-E5708B104F40}" type="parTrans" cxnId="{374757A6-02A2-41C4-9597-F1D333CA2E9D}">
      <dgm:prSet/>
      <dgm:spPr/>
      <dgm:t>
        <a:bodyPr/>
        <a:lstStyle/>
        <a:p>
          <a:endParaRPr lang="en-US"/>
        </a:p>
      </dgm:t>
    </dgm:pt>
    <dgm:pt modelId="{45E65AD6-5817-4E4E-A431-AC17CFF4E8CF}" type="sibTrans" cxnId="{374757A6-02A2-41C4-9597-F1D333CA2E9D}">
      <dgm:prSet/>
      <dgm:spPr/>
      <dgm:t>
        <a:bodyPr/>
        <a:lstStyle/>
        <a:p>
          <a:endParaRPr lang="en-US"/>
        </a:p>
      </dgm:t>
    </dgm:pt>
    <dgm:pt modelId="{DAB468E6-8603-4BE6-9B83-0036E07AC69F}">
      <dgm:prSet phldrT="[Text]" phldr="0"/>
      <dgm:spPr/>
      <dgm:t>
        <a:bodyPr/>
        <a:lstStyle/>
        <a:p>
          <a:r>
            <a:rPr lang="en-US" dirty="0"/>
            <a:t>Backend(Node.js and Express.js)</a:t>
          </a:r>
        </a:p>
      </dgm:t>
    </dgm:pt>
    <dgm:pt modelId="{934555BE-C95B-442B-878C-5F415C71139A}" type="parTrans" cxnId="{055BAF6A-0AFC-4166-8641-5A6FC28B1F38}">
      <dgm:prSet/>
      <dgm:spPr/>
      <dgm:t>
        <a:bodyPr/>
        <a:lstStyle/>
        <a:p>
          <a:endParaRPr lang="en-US"/>
        </a:p>
      </dgm:t>
    </dgm:pt>
    <dgm:pt modelId="{22FB4D12-965B-4B27-84AB-41EE92936E0B}" type="sibTrans" cxnId="{055BAF6A-0AFC-4166-8641-5A6FC28B1F38}">
      <dgm:prSet/>
      <dgm:spPr/>
      <dgm:t>
        <a:bodyPr/>
        <a:lstStyle/>
        <a:p>
          <a:endParaRPr lang="en-US"/>
        </a:p>
      </dgm:t>
    </dgm:pt>
    <dgm:pt modelId="{B0465703-2AA8-4A3E-9104-9148CE73394C}">
      <dgm:prSet phldrT="[Text]" phldr="0"/>
      <dgm:spPr/>
      <dgm:t>
        <a:bodyPr/>
        <a:lstStyle/>
        <a:p>
          <a:r>
            <a:rPr lang="en-US" dirty="0"/>
            <a:t>Database(MySQL)</a:t>
          </a:r>
        </a:p>
      </dgm:t>
    </dgm:pt>
    <dgm:pt modelId="{AEE1B05D-0DAB-47DF-9D8A-3317D4E303B3}" type="parTrans" cxnId="{2D45CFE4-1941-42E5-B667-7DE8DAF25BAA}">
      <dgm:prSet/>
      <dgm:spPr/>
      <dgm:t>
        <a:bodyPr/>
        <a:lstStyle/>
        <a:p>
          <a:endParaRPr lang="en-US"/>
        </a:p>
      </dgm:t>
    </dgm:pt>
    <dgm:pt modelId="{1AD765B4-8CEE-4F5F-A070-633DEB6F6028}" type="sibTrans" cxnId="{2D45CFE4-1941-42E5-B667-7DE8DAF25BAA}">
      <dgm:prSet/>
      <dgm:spPr/>
      <dgm:t>
        <a:bodyPr/>
        <a:lstStyle/>
        <a:p>
          <a:endParaRPr lang="en-US"/>
        </a:p>
      </dgm:t>
    </dgm:pt>
    <dgm:pt modelId="{A2C5BC40-313B-49A8-8321-AB4DEEDBD5F1}" type="pres">
      <dgm:prSet presAssocID="{7BA2CB1D-205C-434D-B572-08FF47038C2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A73DA82-501E-4035-9182-BDD0E64D5C63}" type="pres">
      <dgm:prSet presAssocID="{B0465703-2AA8-4A3E-9104-9148CE73394C}" presName="Accent3" presStyleCnt="0"/>
      <dgm:spPr/>
    </dgm:pt>
    <dgm:pt modelId="{89386A31-E0D6-4092-995F-796D166D3741}" type="pres">
      <dgm:prSet presAssocID="{B0465703-2AA8-4A3E-9104-9148CE73394C}" presName="Accent" presStyleLbl="node1" presStyleIdx="0" presStyleCnt="3"/>
      <dgm:spPr/>
    </dgm:pt>
    <dgm:pt modelId="{98DB2630-9282-4265-AFCC-C0D1BAFFE25A}" type="pres">
      <dgm:prSet presAssocID="{B0465703-2AA8-4A3E-9104-9148CE73394C}" presName="ParentBackground3" presStyleCnt="0"/>
      <dgm:spPr/>
    </dgm:pt>
    <dgm:pt modelId="{C41A1335-C154-445E-97F1-AD3A363245EA}" type="pres">
      <dgm:prSet presAssocID="{B0465703-2AA8-4A3E-9104-9148CE73394C}" presName="ParentBackground" presStyleLbl="fgAcc1" presStyleIdx="0" presStyleCnt="3"/>
      <dgm:spPr/>
    </dgm:pt>
    <dgm:pt modelId="{9C4478AF-F0A7-4B23-A79C-544CCD070AAE}" type="pres">
      <dgm:prSet presAssocID="{B0465703-2AA8-4A3E-9104-9148CE73394C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D8F5629-94D2-4883-BDC7-5C1EF9F52221}" type="pres">
      <dgm:prSet presAssocID="{DAB468E6-8603-4BE6-9B83-0036E07AC69F}" presName="Accent2" presStyleCnt="0"/>
      <dgm:spPr/>
    </dgm:pt>
    <dgm:pt modelId="{56C90551-27E3-49D7-99D0-0D543FCAA3B2}" type="pres">
      <dgm:prSet presAssocID="{DAB468E6-8603-4BE6-9B83-0036E07AC69F}" presName="Accent" presStyleLbl="node1" presStyleIdx="1" presStyleCnt="3"/>
      <dgm:spPr/>
    </dgm:pt>
    <dgm:pt modelId="{71BD8A21-C4CA-420C-B163-F98767609B83}" type="pres">
      <dgm:prSet presAssocID="{DAB468E6-8603-4BE6-9B83-0036E07AC69F}" presName="ParentBackground2" presStyleCnt="0"/>
      <dgm:spPr/>
    </dgm:pt>
    <dgm:pt modelId="{0B393978-FC25-4E62-8904-66B5B7036B90}" type="pres">
      <dgm:prSet presAssocID="{DAB468E6-8603-4BE6-9B83-0036E07AC69F}" presName="ParentBackground" presStyleLbl="fgAcc1" presStyleIdx="1" presStyleCnt="3"/>
      <dgm:spPr/>
    </dgm:pt>
    <dgm:pt modelId="{6DC270DF-3345-4751-9E8C-7E10CE79EE4D}" type="pres">
      <dgm:prSet presAssocID="{DAB468E6-8603-4BE6-9B83-0036E07AC69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1F6DC31-C75C-4A89-BA23-CF89F8F96DBB}" type="pres">
      <dgm:prSet presAssocID="{B6ECA3D5-716A-401A-B5B8-21A67EDDB7D0}" presName="Accent1" presStyleCnt="0"/>
      <dgm:spPr/>
    </dgm:pt>
    <dgm:pt modelId="{35F590F5-6AA0-4B04-BE84-80187C30145C}" type="pres">
      <dgm:prSet presAssocID="{B6ECA3D5-716A-401A-B5B8-21A67EDDB7D0}" presName="Accent" presStyleLbl="node1" presStyleIdx="2" presStyleCnt="3"/>
      <dgm:spPr/>
    </dgm:pt>
    <dgm:pt modelId="{7C75E686-20A1-4FAD-BFCB-0C65AD9E1AEA}" type="pres">
      <dgm:prSet presAssocID="{B6ECA3D5-716A-401A-B5B8-21A67EDDB7D0}" presName="ParentBackground1" presStyleCnt="0"/>
      <dgm:spPr/>
    </dgm:pt>
    <dgm:pt modelId="{04AF82ED-16D4-47C8-A96F-79F7A0F1A79E}" type="pres">
      <dgm:prSet presAssocID="{B6ECA3D5-716A-401A-B5B8-21A67EDDB7D0}" presName="ParentBackground" presStyleLbl="fgAcc1" presStyleIdx="2" presStyleCnt="3" custLinFactNeighborX="-1779" custLinFactNeighborY="543"/>
      <dgm:spPr/>
    </dgm:pt>
    <dgm:pt modelId="{6CFCD2C6-6CB8-4F46-985D-D283F63BDCE5}" type="pres">
      <dgm:prSet presAssocID="{B6ECA3D5-716A-401A-B5B8-21A67EDDB7D0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721E9C14-98DD-4BFB-8C72-6DFAAE8E5B39}" type="presOf" srcId="{B0465703-2AA8-4A3E-9104-9148CE73394C}" destId="{9C4478AF-F0A7-4B23-A79C-544CCD070AAE}" srcOrd="1" destOrd="0" presId="urn:microsoft.com/office/officeart/2011/layout/CircleProcess"/>
    <dgm:cxn modelId="{165B0719-ED8B-4C6A-B928-807FFEB92848}" type="presOf" srcId="{7BA2CB1D-205C-434D-B572-08FF47038C2D}" destId="{A2C5BC40-313B-49A8-8321-AB4DEEDBD5F1}" srcOrd="0" destOrd="0" presId="urn:microsoft.com/office/officeart/2011/layout/CircleProcess"/>
    <dgm:cxn modelId="{055BAF6A-0AFC-4166-8641-5A6FC28B1F38}" srcId="{7BA2CB1D-205C-434D-B572-08FF47038C2D}" destId="{DAB468E6-8603-4BE6-9B83-0036E07AC69F}" srcOrd="1" destOrd="0" parTransId="{934555BE-C95B-442B-878C-5F415C71139A}" sibTransId="{22FB4D12-965B-4B27-84AB-41EE92936E0B}"/>
    <dgm:cxn modelId="{9044904E-C18E-46AC-A67F-088D04615200}" type="presOf" srcId="{DAB468E6-8603-4BE6-9B83-0036E07AC69F}" destId="{6DC270DF-3345-4751-9E8C-7E10CE79EE4D}" srcOrd="1" destOrd="0" presId="urn:microsoft.com/office/officeart/2011/layout/CircleProcess"/>
    <dgm:cxn modelId="{7125BF71-8529-45F4-A5FB-8CF49C3CE2B6}" type="presOf" srcId="{B6ECA3D5-716A-401A-B5B8-21A67EDDB7D0}" destId="{6CFCD2C6-6CB8-4F46-985D-D283F63BDCE5}" srcOrd="1" destOrd="0" presId="urn:microsoft.com/office/officeart/2011/layout/CircleProcess"/>
    <dgm:cxn modelId="{758D5C83-6ACC-4066-8F9F-10DF37F07A7F}" type="presOf" srcId="{B0465703-2AA8-4A3E-9104-9148CE73394C}" destId="{C41A1335-C154-445E-97F1-AD3A363245EA}" srcOrd="0" destOrd="0" presId="urn:microsoft.com/office/officeart/2011/layout/CircleProcess"/>
    <dgm:cxn modelId="{9C46C1A0-BA27-4F55-83B2-B726C68D5873}" type="presOf" srcId="{DAB468E6-8603-4BE6-9B83-0036E07AC69F}" destId="{0B393978-FC25-4E62-8904-66B5B7036B90}" srcOrd="0" destOrd="0" presId="urn:microsoft.com/office/officeart/2011/layout/CircleProcess"/>
    <dgm:cxn modelId="{374757A6-02A2-41C4-9597-F1D333CA2E9D}" srcId="{7BA2CB1D-205C-434D-B572-08FF47038C2D}" destId="{B6ECA3D5-716A-401A-B5B8-21A67EDDB7D0}" srcOrd="0" destOrd="0" parTransId="{F1DDE24C-188D-45C7-83A8-E5708B104F40}" sibTransId="{45E65AD6-5817-4E4E-A431-AC17CFF4E8CF}"/>
    <dgm:cxn modelId="{ED3841AC-9301-4F7F-83FA-80AFEA823F3B}" type="presOf" srcId="{B6ECA3D5-716A-401A-B5B8-21A67EDDB7D0}" destId="{04AF82ED-16D4-47C8-A96F-79F7A0F1A79E}" srcOrd="0" destOrd="0" presId="urn:microsoft.com/office/officeart/2011/layout/CircleProcess"/>
    <dgm:cxn modelId="{2D45CFE4-1941-42E5-B667-7DE8DAF25BAA}" srcId="{7BA2CB1D-205C-434D-B572-08FF47038C2D}" destId="{B0465703-2AA8-4A3E-9104-9148CE73394C}" srcOrd="2" destOrd="0" parTransId="{AEE1B05D-0DAB-47DF-9D8A-3317D4E303B3}" sibTransId="{1AD765B4-8CEE-4F5F-A070-633DEB6F6028}"/>
    <dgm:cxn modelId="{E440AE51-574C-4B40-B019-15F9E082F537}" type="presParOf" srcId="{A2C5BC40-313B-49A8-8321-AB4DEEDBD5F1}" destId="{9A73DA82-501E-4035-9182-BDD0E64D5C63}" srcOrd="0" destOrd="0" presId="urn:microsoft.com/office/officeart/2011/layout/CircleProcess"/>
    <dgm:cxn modelId="{47ECCCC5-F641-46F6-A559-38150CAF7D1F}" type="presParOf" srcId="{9A73DA82-501E-4035-9182-BDD0E64D5C63}" destId="{89386A31-E0D6-4092-995F-796D166D3741}" srcOrd="0" destOrd="0" presId="urn:microsoft.com/office/officeart/2011/layout/CircleProcess"/>
    <dgm:cxn modelId="{CEE4DF71-8B49-4A07-9F1A-FB9582A513D4}" type="presParOf" srcId="{A2C5BC40-313B-49A8-8321-AB4DEEDBD5F1}" destId="{98DB2630-9282-4265-AFCC-C0D1BAFFE25A}" srcOrd="1" destOrd="0" presId="urn:microsoft.com/office/officeart/2011/layout/CircleProcess"/>
    <dgm:cxn modelId="{6A9E78AE-72AC-4B48-AB68-D0EE68061499}" type="presParOf" srcId="{98DB2630-9282-4265-AFCC-C0D1BAFFE25A}" destId="{C41A1335-C154-445E-97F1-AD3A363245EA}" srcOrd="0" destOrd="0" presId="urn:microsoft.com/office/officeart/2011/layout/CircleProcess"/>
    <dgm:cxn modelId="{247EB47B-BF96-4849-8A27-28D2EC425C75}" type="presParOf" srcId="{A2C5BC40-313B-49A8-8321-AB4DEEDBD5F1}" destId="{9C4478AF-F0A7-4B23-A79C-544CCD070AAE}" srcOrd="2" destOrd="0" presId="urn:microsoft.com/office/officeart/2011/layout/CircleProcess"/>
    <dgm:cxn modelId="{428A9EF3-2772-40A5-A299-AB11F264116E}" type="presParOf" srcId="{A2C5BC40-313B-49A8-8321-AB4DEEDBD5F1}" destId="{BD8F5629-94D2-4883-BDC7-5C1EF9F52221}" srcOrd="3" destOrd="0" presId="urn:microsoft.com/office/officeart/2011/layout/CircleProcess"/>
    <dgm:cxn modelId="{E77C9962-4232-432B-B920-B1E89C81E50D}" type="presParOf" srcId="{BD8F5629-94D2-4883-BDC7-5C1EF9F52221}" destId="{56C90551-27E3-49D7-99D0-0D543FCAA3B2}" srcOrd="0" destOrd="0" presId="urn:microsoft.com/office/officeart/2011/layout/CircleProcess"/>
    <dgm:cxn modelId="{DD7C93EF-8B5B-4B82-916C-587A34E825AF}" type="presParOf" srcId="{A2C5BC40-313B-49A8-8321-AB4DEEDBD5F1}" destId="{71BD8A21-C4CA-420C-B163-F98767609B83}" srcOrd="4" destOrd="0" presId="urn:microsoft.com/office/officeart/2011/layout/CircleProcess"/>
    <dgm:cxn modelId="{3FC85B35-85D5-47ED-813F-BB15D5862979}" type="presParOf" srcId="{71BD8A21-C4CA-420C-B163-F98767609B83}" destId="{0B393978-FC25-4E62-8904-66B5B7036B90}" srcOrd="0" destOrd="0" presId="urn:microsoft.com/office/officeart/2011/layout/CircleProcess"/>
    <dgm:cxn modelId="{214E2316-88E3-4E12-92BD-FE14B6CA454E}" type="presParOf" srcId="{A2C5BC40-313B-49A8-8321-AB4DEEDBD5F1}" destId="{6DC270DF-3345-4751-9E8C-7E10CE79EE4D}" srcOrd="5" destOrd="0" presId="urn:microsoft.com/office/officeart/2011/layout/CircleProcess"/>
    <dgm:cxn modelId="{687C8169-1112-4BC7-B648-F39B5DB1F075}" type="presParOf" srcId="{A2C5BC40-313B-49A8-8321-AB4DEEDBD5F1}" destId="{D1F6DC31-C75C-4A89-BA23-CF89F8F96DBB}" srcOrd="6" destOrd="0" presId="urn:microsoft.com/office/officeart/2011/layout/CircleProcess"/>
    <dgm:cxn modelId="{E4355762-7E40-4D99-B27C-DF19B0C771B4}" type="presParOf" srcId="{D1F6DC31-C75C-4A89-BA23-CF89F8F96DBB}" destId="{35F590F5-6AA0-4B04-BE84-80187C30145C}" srcOrd="0" destOrd="0" presId="urn:microsoft.com/office/officeart/2011/layout/CircleProcess"/>
    <dgm:cxn modelId="{493E2294-01F5-455B-8AAC-25107893C6F4}" type="presParOf" srcId="{A2C5BC40-313B-49A8-8321-AB4DEEDBD5F1}" destId="{7C75E686-20A1-4FAD-BFCB-0C65AD9E1AEA}" srcOrd="7" destOrd="0" presId="urn:microsoft.com/office/officeart/2011/layout/CircleProcess"/>
    <dgm:cxn modelId="{AFDC137D-251D-4142-B2DE-504922B5418B}" type="presParOf" srcId="{7C75E686-20A1-4FAD-BFCB-0C65AD9E1AEA}" destId="{04AF82ED-16D4-47C8-A96F-79F7A0F1A79E}" srcOrd="0" destOrd="0" presId="urn:microsoft.com/office/officeart/2011/layout/CircleProcess"/>
    <dgm:cxn modelId="{96C7511B-D1D5-4F3A-8B95-A975B39C4482}" type="presParOf" srcId="{A2C5BC40-313B-49A8-8321-AB4DEEDBD5F1}" destId="{6CFCD2C6-6CB8-4F46-985D-D283F63BDCE5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386A31-E0D6-4092-995F-796D166D3741}">
      <dsp:nvSpPr>
        <dsp:cNvPr id="0" name=""/>
        <dsp:cNvSpPr/>
      </dsp:nvSpPr>
      <dsp:spPr>
        <a:xfrm>
          <a:off x="3550274" y="492017"/>
          <a:ext cx="1303342" cy="13035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A1335-C154-445E-97F1-AD3A363245EA}">
      <dsp:nvSpPr>
        <dsp:cNvPr id="0" name=""/>
        <dsp:cNvSpPr/>
      </dsp:nvSpPr>
      <dsp:spPr>
        <a:xfrm>
          <a:off x="3593549" y="535477"/>
          <a:ext cx="1216792" cy="121666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Database(MySQL)</a:t>
          </a:r>
        </a:p>
      </dsp:txBody>
      <dsp:txXfrm>
        <a:off x="3767497" y="709319"/>
        <a:ext cx="868894" cy="868979"/>
      </dsp:txXfrm>
    </dsp:sp>
    <dsp:sp modelId="{56C90551-27E3-49D7-99D0-0D543FCAA3B2}">
      <dsp:nvSpPr>
        <dsp:cNvPr id="0" name=""/>
        <dsp:cNvSpPr/>
      </dsp:nvSpPr>
      <dsp:spPr>
        <a:xfrm rot="2700000">
          <a:off x="2204802" y="493593"/>
          <a:ext cx="1300203" cy="1300203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93978-FC25-4E62-8904-66B5B7036B90}">
      <dsp:nvSpPr>
        <dsp:cNvPr id="0" name=""/>
        <dsp:cNvSpPr/>
      </dsp:nvSpPr>
      <dsp:spPr>
        <a:xfrm>
          <a:off x="2246507" y="535477"/>
          <a:ext cx="1216792" cy="121666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Backend(Node.js and Express.js)</a:t>
          </a:r>
        </a:p>
      </dsp:txBody>
      <dsp:txXfrm>
        <a:off x="2420456" y="709319"/>
        <a:ext cx="868894" cy="868979"/>
      </dsp:txXfrm>
    </dsp:sp>
    <dsp:sp modelId="{35F590F5-6AA0-4B04-BE84-80187C30145C}">
      <dsp:nvSpPr>
        <dsp:cNvPr id="0" name=""/>
        <dsp:cNvSpPr/>
      </dsp:nvSpPr>
      <dsp:spPr>
        <a:xfrm rot="2700000">
          <a:off x="857760" y="493593"/>
          <a:ext cx="1300203" cy="1300203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F82ED-16D4-47C8-A96F-79F7A0F1A79E}">
      <dsp:nvSpPr>
        <dsp:cNvPr id="0" name=""/>
        <dsp:cNvSpPr/>
      </dsp:nvSpPr>
      <dsp:spPr>
        <a:xfrm>
          <a:off x="877819" y="542084"/>
          <a:ext cx="1216792" cy="121666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User Interface/Frontend(HTML, CSS, JavaScript)</a:t>
          </a:r>
        </a:p>
      </dsp:txBody>
      <dsp:txXfrm>
        <a:off x="1051767" y="715926"/>
        <a:ext cx="868894" cy="868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4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6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63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5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4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5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2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4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7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7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1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9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330" y="609600"/>
            <a:ext cx="8371368" cy="135636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1"/>
                </a:solidFill>
              </a:rPr>
              <a:t>Mind Bridge: </a:t>
            </a:r>
            <a:r>
              <a:rPr lang="en-US" b="1" dirty="0">
                <a:solidFill>
                  <a:schemeClr val="tx1"/>
                </a:solidFill>
              </a:rPr>
              <a:t>North South University </a:t>
            </a:r>
            <a:r>
              <a:rPr b="1" dirty="0">
                <a:solidFill>
                  <a:schemeClr val="tx1"/>
                </a:solidFill>
              </a:rPr>
              <a:t>Student Mental Health Support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779DC-6E12-8635-B52C-0CF050999B88}"/>
              </a:ext>
            </a:extLst>
          </p:cNvPr>
          <p:cNvSpPr txBox="1"/>
          <p:nvPr/>
        </p:nvSpPr>
        <p:spPr>
          <a:xfrm>
            <a:off x="790354" y="2055260"/>
            <a:ext cx="6071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Course Name</a:t>
            </a:r>
            <a:r>
              <a:rPr lang="en-US" sz="2000" dirty="0"/>
              <a:t>: Junior Design Project(CSE</a:t>
            </a:r>
            <a:r>
              <a:rPr lang="en-US" sz="2000" dirty="0">
                <a:latin typeface="Aptos Display" panose="020B0004020202020204" pitchFamily="34" charset="0"/>
              </a:rPr>
              <a:t>299</a:t>
            </a:r>
            <a:r>
              <a:rPr lang="en-US" sz="20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FFBF8-CC1A-3A13-6419-4EF15C4BC068}"/>
              </a:ext>
            </a:extLst>
          </p:cNvPr>
          <p:cNvSpPr txBox="1"/>
          <p:nvPr/>
        </p:nvSpPr>
        <p:spPr>
          <a:xfrm>
            <a:off x="790354" y="2440089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Presented By: </a:t>
            </a:r>
            <a:r>
              <a:rPr lang="en-US" sz="2000" dirty="0"/>
              <a:t>Sumaiya Basher Riyana</a:t>
            </a:r>
          </a:p>
          <a:p>
            <a:r>
              <a:rPr lang="en-US" sz="2000" b="1" dirty="0"/>
              <a:t>ID: </a:t>
            </a:r>
            <a:r>
              <a:rPr lang="en-US" sz="2000" dirty="0">
                <a:latin typeface="Aptos Display" panose="020B0004020202020204" pitchFamily="34" charset="0"/>
              </a:rPr>
              <a:t>2221686642</a:t>
            </a:r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4CF2B-7CC1-7D24-8880-6123D337B6A6}"/>
              </a:ext>
            </a:extLst>
          </p:cNvPr>
          <p:cNvSpPr txBox="1"/>
          <p:nvPr/>
        </p:nvSpPr>
        <p:spPr>
          <a:xfrm>
            <a:off x="790354" y="314797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Instructor Name: </a:t>
            </a:r>
            <a:r>
              <a:rPr lang="en-US" sz="2000" dirty="0"/>
              <a:t>Silvia Ahmed(</a:t>
            </a:r>
            <a:r>
              <a:rPr lang="en-US" sz="2000" dirty="0" err="1"/>
              <a:t>SvA</a:t>
            </a:r>
            <a:r>
              <a:rPr lang="en-US" sz="20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8957B8-D9CD-3A22-496E-30219CF925A5}"/>
              </a:ext>
            </a:extLst>
          </p:cNvPr>
          <p:cNvSpPr txBox="1"/>
          <p:nvPr/>
        </p:nvSpPr>
        <p:spPr>
          <a:xfrm>
            <a:off x="790354" y="354808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Date: </a:t>
            </a:r>
            <a:r>
              <a:rPr lang="en-US" sz="2000" dirty="0">
                <a:latin typeface="Aptos Display" panose="020B0004020202020204" pitchFamily="34" charset="0"/>
              </a:rPr>
              <a:t>28 April, 2026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919" y="112461"/>
            <a:ext cx="7723118" cy="875499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Target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5B8E2-BA0A-FC9F-D00A-D272075670A4}"/>
              </a:ext>
            </a:extLst>
          </p:cNvPr>
          <p:cNvSpPr txBox="1"/>
          <p:nvPr/>
        </p:nvSpPr>
        <p:spPr>
          <a:xfrm>
            <a:off x="128814" y="987960"/>
            <a:ext cx="55780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University students often experience </a:t>
            </a:r>
            <a:r>
              <a:rPr lang="en-US" b="1" dirty="0"/>
              <a:t>academic pressure</a:t>
            </a:r>
            <a:r>
              <a:rPr lang="en-US" dirty="0"/>
              <a:t>, </a:t>
            </a:r>
            <a:r>
              <a:rPr lang="en-US" b="1" dirty="0"/>
              <a:t>stress</a:t>
            </a:r>
            <a:r>
              <a:rPr lang="en-US" dirty="0"/>
              <a:t>, </a:t>
            </a:r>
            <a:r>
              <a:rPr lang="en-US" b="1" dirty="0"/>
              <a:t>anxiety</a:t>
            </a:r>
            <a:r>
              <a:rPr lang="en-US" dirty="0"/>
              <a:t>, and </a:t>
            </a:r>
            <a:r>
              <a:rPr lang="en-US" b="1" dirty="0"/>
              <a:t>emotional challenges</a:t>
            </a:r>
            <a:r>
              <a:rPr lang="en-US" dirty="0"/>
              <a:t>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students </a:t>
            </a:r>
            <a:r>
              <a:rPr lang="en-US" b="1" dirty="0"/>
              <a:t>hesitate to seek professional help</a:t>
            </a:r>
            <a:r>
              <a:rPr lang="en-US" dirty="0"/>
              <a:t> due to </a:t>
            </a:r>
            <a:r>
              <a:rPr lang="en-US" b="1" dirty="0"/>
              <a:t>stigma</a:t>
            </a:r>
            <a:r>
              <a:rPr lang="en-US" dirty="0"/>
              <a:t>, </a:t>
            </a:r>
            <a:r>
              <a:rPr lang="en-US" b="1" dirty="0"/>
              <a:t>lack of awareness</a:t>
            </a:r>
            <a:r>
              <a:rPr lang="en-US" dirty="0"/>
              <a:t>, or </a:t>
            </a:r>
            <a:r>
              <a:rPr lang="en-US" b="1" dirty="0"/>
              <a:t>limited access to counseling services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support systems in many universities are </a:t>
            </a:r>
            <a:r>
              <a:rPr lang="en-US" b="1" dirty="0"/>
              <a:t>not easily accessible or confidential</a:t>
            </a:r>
            <a:r>
              <a:rPr lang="en-US" dirty="0"/>
              <a:t> for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need for a </a:t>
            </a:r>
            <a:r>
              <a:rPr lang="en-US" b="1" dirty="0"/>
              <a:t>safe, supportive, and accessible platform</a:t>
            </a:r>
            <a:r>
              <a:rPr lang="en-US" dirty="0"/>
              <a:t> where students can share concerns and receive guidance.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D9FE3-F978-A934-BADA-90FD5BEA353E}"/>
              </a:ext>
            </a:extLst>
          </p:cNvPr>
          <p:cNvSpPr txBox="1"/>
          <p:nvPr/>
        </p:nvSpPr>
        <p:spPr>
          <a:xfrm>
            <a:off x="300919" y="4351093"/>
            <a:ext cx="906598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+mj-lt"/>
              </a:rPr>
              <a:t>Goal</a:t>
            </a:r>
            <a:r>
              <a:rPr lang="en-US" sz="2800" b="1" dirty="0">
                <a:latin typeface="+mj-lt"/>
              </a:rPr>
              <a:t>:</a:t>
            </a:r>
          </a:p>
          <a:p>
            <a:r>
              <a:rPr lang="en-US" dirty="0"/>
              <a:t>To provide a </a:t>
            </a:r>
            <a:r>
              <a:rPr lang="en-US" b="1" dirty="0"/>
              <a:t>digital support system </a:t>
            </a:r>
            <a:r>
              <a:rPr lang="en-US" dirty="0"/>
              <a:t>that connects students with peer counselors and supervisors for mental health support.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FD5140-9FDE-04A9-43F0-527C914EF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69" b="23447"/>
          <a:stretch>
            <a:fillRect/>
          </a:stretch>
        </p:blipFill>
        <p:spPr>
          <a:xfrm>
            <a:off x="5521790" y="1139371"/>
            <a:ext cx="3408124" cy="20102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315" y="-95477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Proposed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10D6E-53F1-8A86-D833-29DBF515364F}"/>
              </a:ext>
            </a:extLst>
          </p:cNvPr>
          <p:cNvSpPr txBox="1"/>
          <p:nvPr/>
        </p:nvSpPr>
        <p:spPr>
          <a:xfrm>
            <a:off x="192315" y="778202"/>
            <a:ext cx="84219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To address the mental health challenges </a:t>
            </a:r>
          </a:p>
          <a:p>
            <a:pPr algn="just"/>
            <a:r>
              <a:rPr lang="en-US" dirty="0"/>
              <a:t>faced by university students, we developed Mind Bridge, </a:t>
            </a:r>
          </a:p>
          <a:p>
            <a:pPr algn="just"/>
            <a:r>
              <a:rPr lang="en-US" dirty="0"/>
              <a:t>a web-based mental health support platform.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system provides: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Mental Health Reporting </a:t>
            </a:r>
            <a:r>
              <a:rPr lang="en-US" dirty="0"/>
              <a:t>– Students can confidentially report emotional or psychological concerns.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Peer Counseling Support </a:t>
            </a:r>
            <a:r>
              <a:rPr lang="en-US" dirty="0"/>
              <a:t>– Students can connect with trained peer counselors for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Messaging System </a:t>
            </a:r>
            <a:r>
              <a:rPr lang="en-US" dirty="0"/>
              <a:t>– Enables communication between students, peer counselors, and supervisors.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Emotional Tracking </a:t>
            </a:r>
            <a:r>
              <a:rPr lang="en-US" dirty="0"/>
              <a:t>– Students can monitor their emotional well-being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Mental Health Resources </a:t>
            </a:r>
            <a:r>
              <a:rPr lang="en-US" dirty="0"/>
              <a:t>– Access to helpful articles and support materials.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9A7FC-F2BA-A2E3-3FAC-350959750123}"/>
              </a:ext>
            </a:extLst>
          </p:cNvPr>
          <p:cNvSpPr txBox="1"/>
          <p:nvPr/>
        </p:nvSpPr>
        <p:spPr>
          <a:xfrm>
            <a:off x="192315" y="5327139"/>
            <a:ext cx="56968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Goal: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87251-F51C-C3E2-D3D4-A88CFB21DB49}"/>
              </a:ext>
            </a:extLst>
          </p:cNvPr>
          <p:cNvSpPr txBox="1"/>
          <p:nvPr/>
        </p:nvSpPr>
        <p:spPr>
          <a:xfrm>
            <a:off x="141515" y="5930146"/>
            <a:ext cx="8893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create a </a:t>
            </a:r>
            <a:r>
              <a:rPr lang="en-US" b="1" dirty="0"/>
              <a:t>safe, accessible, and supportive digital environment </a:t>
            </a:r>
            <a:r>
              <a:rPr lang="en-US" dirty="0"/>
              <a:t>that helps students seek help and improve their mental well-being.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7D3234-D995-460C-2EC0-1184CBB22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3" t="6688" b="4251"/>
          <a:stretch>
            <a:fillRect/>
          </a:stretch>
        </p:blipFill>
        <p:spPr>
          <a:xfrm>
            <a:off x="6045201" y="393162"/>
            <a:ext cx="2989942" cy="2058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2" y="-91747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Initial 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20B2C-F003-27DE-EF6B-94623C920285}"/>
              </a:ext>
            </a:extLst>
          </p:cNvPr>
          <p:cNvSpPr txBox="1"/>
          <p:nvPr/>
        </p:nvSpPr>
        <p:spPr>
          <a:xfrm>
            <a:off x="587828" y="770036"/>
            <a:ext cx="5878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Functional Requirements</a:t>
            </a:r>
            <a:r>
              <a:rPr lang="en-US" dirty="0"/>
              <a:t>: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5F056-A8D0-8855-DD99-9FCF975D6F9F}"/>
              </a:ext>
            </a:extLst>
          </p:cNvPr>
          <p:cNvSpPr txBox="1"/>
          <p:nvPr/>
        </p:nvSpPr>
        <p:spPr>
          <a:xfrm>
            <a:off x="740230" y="1147096"/>
            <a:ext cx="62266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</a:t>
            </a:r>
            <a:r>
              <a:rPr lang="en-US" b="1" dirty="0"/>
              <a:t>registration</a:t>
            </a:r>
            <a:r>
              <a:rPr lang="en-US" dirty="0"/>
              <a:t> and secure </a:t>
            </a:r>
            <a:r>
              <a:rPr lang="en-US" b="1" dirty="0"/>
              <a:t>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Students can submit </a:t>
            </a:r>
            <a:r>
              <a:rPr lang="en-US" b="1" dirty="0"/>
              <a:t>mental health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Peer counseling sessions </a:t>
            </a:r>
            <a:r>
              <a:rPr lang="en-US" dirty="0"/>
              <a:t>between students and counselors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Messaging system </a:t>
            </a:r>
            <a:r>
              <a:rPr lang="en-US" dirty="0"/>
              <a:t>for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Emotional tracking </a:t>
            </a:r>
            <a:r>
              <a:rPr lang="en-US" dirty="0"/>
              <a:t>to monitor mood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to </a:t>
            </a:r>
            <a:r>
              <a:rPr lang="en-US" b="1" dirty="0"/>
              <a:t>mental health resources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DC57B-92BA-AEE9-6A51-85852D28E388}"/>
              </a:ext>
            </a:extLst>
          </p:cNvPr>
          <p:cNvSpPr txBox="1"/>
          <p:nvPr/>
        </p:nvSpPr>
        <p:spPr>
          <a:xfrm>
            <a:off x="587828" y="2997265"/>
            <a:ext cx="5878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Technology Stack: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1A642-2E80-F67C-3DCC-69CDE70AAC78}"/>
              </a:ext>
            </a:extLst>
          </p:cNvPr>
          <p:cNvSpPr txBox="1"/>
          <p:nvPr/>
        </p:nvSpPr>
        <p:spPr>
          <a:xfrm>
            <a:off x="740230" y="3425974"/>
            <a:ext cx="58782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</a:t>
            </a:r>
          </a:p>
          <a:p>
            <a:r>
              <a:rPr lang="en-US" dirty="0"/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Express.js</a:t>
            </a:r>
          </a:p>
          <a:p>
            <a:r>
              <a:rPr lang="en-US" dirty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953" y="-85400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98A179-1471-FBD5-12D8-F108C0FE48CE}"/>
              </a:ext>
            </a:extLst>
          </p:cNvPr>
          <p:cNvSpPr txBox="1"/>
          <p:nvPr/>
        </p:nvSpPr>
        <p:spPr>
          <a:xfrm>
            <a:off x="411126" y="790346"/>
            <a:ext cx="580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Presentation Layer (Frontend)</a:t>
            </a:r>
          </a:p>
          <a:p>
            <a:r>
              <a:rPr lang="en-US" b="1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87D50E-357C-9DBF-A366-2BE5AD5452C7}"/>
              </a:ext>
            </a:extLst>
          </p:cNvPr>
          <p:cNvSpPr txBox="1"/>
          <p:nvPr/>
        </p:nvSpPr>
        <p:spPr>
          <a:xfrm>
            <a:off x="662762" y="1168550"/>
            <a:ext cx="81392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using </a:t>
            </a:r>
            <a:r>
              <a:rPr lang="en-US" b="1" dirty="0"/>
              <a:t>HTML, CSS</a:t>
            </a:r>
            <a:r>
              <a:rPr lang="en-US" dirty="0"/>
              <a:t>, and </a:t>
            </a:r>
            <a:r>
              <a:rPr lang="en-US" b="1" dirty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the </a:t>
            </a:r>
            <a:r>
              <a:rPr lang="en-US" b="1" dirty="0"/>
              <a:t>user interface</a:t>
            </a:r>
            <a:r>
              <a:rPr lang="en-US" dirty="0"/>
              <a:t> for </a:t>
            </a:r>
            <a:r>
              <a:rPr lang="en-US" b="1" dirty="0"/>
              <a:t>students, peer counselors</a:t>
            </a:r>
            <a:r>
              <a:rPr lang="en-US" dirty="0"/>
              <a:t>, and </a:t>
            </a:r>
            <a:r>
              <a:rPr lang="en-US" b="1" dirty="0"/>
              <a:t>supervisors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</a:t>
            </a:r>
            <a:r>
              <a:rPr lang="en-US" b="1" dirty="0"/>
              <a:t>user interactions </a:t>
            </a:r>
            <a:r>
              <a:rPr lang="en-US" dirty="0"/>
              <a:t>such as </a:t>
            </a:r>
            <a:r>
              <a:rPr lang="en-US" b="1" dirty="0"/>
              <a:t>submitting reports, viewing resources</a:t>
            </a:r>
            <a:r>
              <a:rPr lang="en-US" dirty="0"/>
              <a:t>, and </a:t>
            </a:r>
            <a:r>
              <a:rPr lang="en-US" b="1" dirty="0"/>
              <a:t>messaging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4B8D6B-BD2F-4602-CB9D-9EA1B4E822F5}"/>
              </a:ext>
            </a:extLst>
          </p:cNvPr>
          <p:cNvSpPr txBox="1"/>
          <p:nvPr/>
        </p:nvSpPr>
        <p:spPr>
          <a:xfrm>
            <a:off x="411126" y="2644814"/>
            <a:ext cx="580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Application Layer (Backend)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2E9B08-4E37-168F-D88E-706F818A867A}"/>
              </a:ext>
            </a:extLst>
          </p:cNvPr>
          <p:cNvSpPr txBox="1"/>
          <p:nvPr/>
        </p:nvSpPr>
        <p:spPr>
          <a:xfrm>
            <a:off x="489098" y="3337311"/>
            <a:ext cx="5808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using </a:t>
            </a:r>
            <a:r>
              <a:rPr lang="en-US" b="1" dirty="0"/>
              <a:t>Node.js </a:t>
            </a:r>
            <a:r>
              <a:rPr lang="en-US" dirty="0"/>
              <a:t>and </a:t>
            </a:r>
            <a:r>
              <a:rPr lang="en-US" b="1" dirty="0"/>
              <a:t>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Processes </a:t>
            </a:r>
            <a:r>
              <a:rPr lang="en-US" b="1" dirty="0"/>
              <a:t>user requests</a:t>
            </a:r>
            <a:r>
              <a:rPr lang="en-US" dirty="0"/>
              <a:t> and handles </a:t>
            </a:r>
            <a:r>
              <a:rPr lang="en-US" b="1" dirty="0"/>
              <a:t>business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authentication, report processing, session scheduling</a:t>
            </a:r>
            <a:r>
              <a:rPr lang="en-US" dirty="0"/>
              <a:t>, and </a:t>
            </a:r>
            <a:r>
              <a:rPr lang="en-US" b="1" dirty="0"/>
              <a:t>messaging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8CF408-3D72-3359-0097-9B74761B5353}"/>
              </a:ext>
            </a:extLst>
          </p:cNvPr>
          <p:cNvSpPr txBox="1"/>
          <p:nvPr/>
        </p:nvSpPr>
        <p:spPr>
          <a:xfrm>
            <a:off x="411126" y="4675335"/>
            <a:ext cx="580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Data Layer (Database)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9BDCBB-8B11-C17B-64EE-726BA95DA992}"/>
              </a:ext>
            </a:extLst>
          </p:cNvPr>
          <p:cNvSpPr txBox="1"/>
          <p:nvPr/>
        </p:nvSpPr>
        <p:spPr>
          <a:xfrm>
            <a:off x="489098" y="5230942"/>
            <a:ext cx="79974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using </a:t>
            </a:r>
            <a:r>
              <a:rPr lang="en-US" b="1" dirty="0"/>
              <a:t>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user data, reports, messages, sessions</a:t>
            </a:r>
            <a:r>
              <a:rPr lang="en-US" dirty="0"/>
              <a:t>, and </a:t>
            </a:r>
            <a:r>
              <a:rPr lang="en-US" b="1" dirty="0"/>
              <a:t>emotional tracking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structured and secure </a:t>
            </a:r>
            <a:r>
              <a:rPr lang="en-US" b="1" dirty="0"/>
              <a:t>data management</a:t>
            </a:r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D8F91BA1-C681-4B04-9409-64EDF4C41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385504"/>
              </p:ext>
            </p:extLst>
          </p:nvPr>
        </p:nvGraphicFramePr>
        <p:xfrm>
          <a:off x="4144926" y="1673224"/>
          <a:ext cx="5442096" cy="2287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396" y="-87957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Database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2CDBC-1442-66D7-A6A4-9494AA26B697}"/>
              </a:ext>
            </a:extLst>
          </p:cNvPr>
          <p:cNvSpPr txBox="1"/>
          <p:nvPr/>
        </p:nvSpPr>
        <p:spPr>
          <a:xfrm>
            <a:off x="457199" y="716055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uses a MySQL relational database to store and manage application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0ED23-D98C-2BEA-C478-2944F6B717A8}"/>
              </a:ext>
            </a:extLst>
          </p:cNvPr>
          <p:cNvSpPr txBox="1"/>
          <p:nvPr/>
        </p:nvSpPr>
        <p:spPr>
          <a:xfrm>
            <a:off x="379228" y="1085387"/>
            <a:ext cx="57734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Users</a:t>
            </a:r>
            <a:r>
              <a:rPr lang="en-US" dirty="0"/>
              <a:t> – Stores user information such as name, email, password, and role (student, peer counselor, supervisor).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Reports </a:t>
            </a:r>
            <a:r>
              <a:rPr lang="en-US" dirty="0"/>
              <a:t>– Contains mental health reports submitted by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Sessions</a:t>
            </a:r>
            <a:r>
              <a:rPr lang="en-US" dirty="0"/>
              <a:t> – Stores scheduled counseling sessions between students and peer counselors.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Messages</a:t>
            </a:r>
            <a:r>
              <a:rPr lang="en-US" dirty="0"/>
              <a:t> – Manages communication between users in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Emotional Tracking </a:t>
            </a:r>
            <a:r>
              <a:rPr lang="en-US" dirty="0"/>
              <a:t>– Records students’ mood or emotional state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Resources</a:t>
            </a:r>
            <a:r>
              <a:rPr lang="en-US" dirty="0"/>
              <a:t> – Stores mental health articles and support materials.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BF114-6FDB-E204-29C4-111E3D72A191}"/>
              </a:ext>
            </a:extLst>
          </p:cNvPr>
          <p:cNvSpPr txBox="1"/>
          <p:nvPr/>
        </p:nvSpPr>
        <p:spPr>
          <a:xfrm>
            <a:off x="292396" y="1035315"/>
            <a:ext cx="57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Main Tables: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A50580-3D48-5361-019C-6EE2615361D3}"/>
              </a:ext>
            </a:extLst>
          </p:cNvPr>
          <p:cNvSpPr txBox="1"/>
          <p:nvPr/>
        </p:nvSpPr>
        <p:spPr>
          <a:xfrm>
            <a:off x="292396" y="5031736"/>
            <a:ext cx="57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AE3F60-FC5D-D435-F96B-9BD046BE4DA4}"/>
              </a:ext>
            </a:extLst>
          </p:cNvPr>
          <p:cNvSpPr txBox="1"/>
          <p:nvPr/>
        </p:nvSpPr>
        <p:spPr>
          <a:xfrm>
            <a:off x="200246" y="5414195"/>
            <a:ext cx="87435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database structure ensures </a:t>
            </a:r>
            <a:r>
              <a:rPr lang="en-US" b="1" dirty="0"/>
              <a:t>organized storage of user data, reports, communication</a:t>
            </a:r>
            <a:r>
              <a:rPr lang="en-US" dirty="0"/>
              <a:t>, and </a:t>
            </a:r>
            <a:r>
              <a:rPr lang="en-US" b="1" dirty="0"/>
              <a:t>emotional tracking information </a:t>
            </a:r>
            <a:r>
              <a:rPr lang="en-US" dirty="0"/>
              <a:t>while maintaining relationships between different entities.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-68580"/>
            <a:ext cx="7406640" cy="135636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Backend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98B19-B0A6-783E-8995-E3AF1B14D90F}"/>
              </a:ext>
            </a:extLst>
          </p:cNvPr>
          <p:cNvSpPr txBox="1"/>
          <p:nvPr/>
        </p:nvSpPr>
        <p:spPr>
          <a:xfrm>
            <a:off x="391632" y="878404"/>
            <a:ext cx="8360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backend of the system was developed using </a:t>
            </a:r>
            <a:r>
              <a:rPr lang="en-US" b="1" dirty="0"/>
              <a:t>Node.js </a:t>
            </a:r>
            <a:r>
              <a:rPr lang="en-US" dirty="0"/>
              <a:t>and </a:t>
            </a:r>
            <a:r>
              <a:rPr lang="en-US" b="1" dirty="0"/>
              <a:t>Express.js </a:t>
            </a:r>
            <a:r>
              <a:rPr lang="en-US" dirty="0"/>
              <a:t>to handle server-side operations.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E90C3-265B-D8A6-4A0C-B1021F1EF596}"/>
              </a:ext>
            </a:extLst>
          </p:cNvPr>
          <p:cNvSpPr txBox="1"/>
          <p:nvPr/>
        </p:nvSpPr>
        <p:spPr>
          <a:xfrm>
            <a:off x="531629" y="14733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Main Responsibilities: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A58DCA-D042-5905-2226-E21BF1567CA4}"/>
              </a:ext>
            </a:extLst>
          </p:cNvPr>
          <p:cNvSpPr txBox="1"/>
          <p:nvPr/>
        </p:nvSpPr>
        <p:spPr>
          <a:xfrm>
            <a:off x="678710" y="1785259"/>
            <a:ext cx="77865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 Authentication </a:t>
            </a:r>
            <a:r>
              <a:rPr lang="en-US" dirty="0"/>
              <a:t>– Handles login, registration, and session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API Management </a:t>
            </a:r>
            <a:r>
              <a:rPr lang="en-US" dirty="0"/>
              <a:t>– Provides RESTful APIs for communication between frontend and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Report Handling</a:t>
            </a:r>
            <a:r>
              <a:rPr lang="en-US" dirty="0"/>
              <a:t> – Processes and stores mental health reports submitted by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Session Management </a:t>
            </a:r>
            <a:r>
              <a:rPr lang="en-US" dirty="0"/>
              <a:t>– Manages counseling session scheduling.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Messaging System</a:t>
            </a:r>
            <a:r>
              <a:rPr lang="en-US" dirty="0"/>
              <a:t> – Enables communication between students, peer counselors, and supervisors.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 Interaction </a:t>
            </a:r>
            <a:r>
              <a:rPr lang="en-US" dirty="0"/>
              <a:t>– Connects to the MySQL database to store and retrieve data.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B47612-B1B4-C2AA-E663-4365FD880555}"/>
              </a:ext>
            </a:extLst>
          </p:cNvPr>
          <p:cNvSpPr txBox="1"/>
          <p:nvPr/>
        </p:nvSpPr>
        <p:spPr>
          <a:xfrm>
            <a:off x="595424" y="47047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3090E7-0D8B-616A-082C-6746E36BF431}"/>
              </a:ext>
            </a:extLst>
          </p:cNvPr>
          <p:cNvSpPr txBox="1"/>
          <p:nvPr/>
        </p:nvSpPr>
        <p:spPr>
          <a:xfrm>
            <a:off x="678710" y="5153451"/>
            <a:ext cx="8311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ensure secure </a:t>
            </a:r>
            <a:r>
              <a:rPr lang="en-US" b="1" dirty="0"/>
              <a:t>data processing, efficient request handling</a:t>
            </a:r>
            <a:r>
              <a:rPr lang="en-US" dirty="0"/>
              <a:t>, and </a:t>
            </a:r>
            <a:r>
              <a:rPr lang="en-US" b="1" dirty="0"/>
              <a:t>smooth communication</a:t>
            </a:r>
            <a:r>
              <a:rPr lang="en-US" dirty="0"/>
              <a:t> between the frontend and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385" y="-92149"/>
            <a:ext cx="7406640" cy="135636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Frontend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58A254-D15E-9DBE-C282-7224136AFB48}"/>
              </a:ext>
            </a:extLst>
          </p:cNvPr>
          <p:cNvSpPr txBox="1"/>
          <p:nvPr/>
        </p:nvSpPr>
        <p:spPr>
          <a:xfrm>
            <a:off x="620232" y="867405"/>
            <a:ext cx="7800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frontend of the system was developed using </a:t>
            </a:r>
            <a:r>
              <a:rPr lang="en-US" b="1" dirty="0"/>
              <a:t>HTML, CSS</a:t>
            </a:r>
            <a:r>
              <a:rPr lang="en-US" dirty="0"/>
              <a:t>, and </a:t>
            </a:r>
            <a:r>
              <a:rPr lang="en-US" b="1" dirty="0"/>
              <a:t>JavaScript</a:t>
            </a:r>
            <a:r>
              <a:rPr lang="en-US" dirty="0"/>
              <a:t>. It is designed for a </a:t>
            </a:r>
            <a:r>
              <a:rPr lang="en-US" b="1" dirty="0"/>
              <a:t>clean and user-friendly interface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5982B-6330-6B10-13EF-8BE889EA76EE}"/>
              </a:ext>
            </a:extLst>
          </p:cNvPr>
          <p:cNvSpPr txBox="1"/>
          <p:nvPr/>
        </p:nvSpPr>
        <p:spPr>
          <a:xfrm>
            <a:off x="531629" y="151373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Main Responsibilities: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760A4D-294E-4678-98E2-5593C48E6191}"/>
              </a:ext>
            </a:extLst>
          </p:cNvPr>
          <p:cNvSpPr txBox="1"/>
          <p:nvPr/>
        </p:nvSpPr>
        <p:spPr>
          <a:xfrm>
            <a:off x="754911" y="1878004"/>
            <a:ext cx="69855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 Interface (UI)</a:t>
            </a:r>
            <a:r>
              <a:rPr lang="en-US" dirty="0"/>
              <a:t> – Provides an intuitive and visually appealing interface for users to interact with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Navigation Management </a:t>
            </a:r>
            <a:r>
              <a:rPr lang="en-US" dirty="0"/>
              <a:t>– Handles smooth navigation between pages such as login, dashboard, and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Form Handling </a:t>
            </a:r>
            <a:r>
              <a:rPr lang="en-US" dirty="0"/>
              <a:t>– Manages user inputs for registration, login, and report submission.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Dashboard Display</a:t>
            </a:r>
            <a:r>
              <a:rPr lang="en-US" dirty="0"/>
              <a:t> – Presents user data, reports, and activities in an organized manner.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Messaging Interface </a:t>
            </a:r>
            <a:r>
              <a:rPr lang="en-US" dirty="0"/>
              <a:t>– Displays conversations and enables real-time user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Emotional Tracking UI </a:t>
            </a:r>
            <a:r>
              <a:rPr lang="en-US" dirty="0"/>
              <a:t>– Visualizes user mood and emotional data through interactive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API Integration </a:t>
            </a:r>
            <a:r>
              <a:rPr lang="en-US" dirty="0"/>
              <a:t>– Communicates with backend services to send and retrieve data dynamically.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Responsive Design </a:t>
            </a:r>
            <a:r>
              <a:rPr lang="en-US" dirty="0"/>
              <a:t>– Ensures compatibility across different devices and screen sizes.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04" y="13946"/>
            <a:ext cx="7406640" cy="135636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Changes During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C7946-27FE-712E-E6CA-2A0F2A740E2B}"/>
              </a:ext>
            </a:extLst>
          </p:cNvPr>
          <p:cNvSpPr txBox="1"/>
          <p:nvPr/>
        </p:nvSpPr>
        <p:spPr>
          <a:xfrm>
            <a:off x="492642" y="10697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During development we made improvements: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971DD-876B-F825-4482-9AC94AC093B1}"/>
              </a:ext>
            </a:extLst>
          </p:cNvPr>
          <p:cNvSpPr txBox="1"/>
          <p:nvPr/>
        </p:nvSpPr>
        <p:spPr>
          <a:xfrm>
            <a:off x="740735" y="1439077"/>
            <a:ext cx="6858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UI/UX Improvements </a:t>
            </a:r>
            <a:r>
              <a:rPr lang="en-US" dirty="0"/>
              <a:t>– Redesigned layouts for better usability and cleaner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Backend Optimization</a:t>
            </a:r>
            <a:r>
              <a:rPr lang="en-US" dirty="0"/>
              <a:t> – Fixed routing issues and improved API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 Modifications </a:t>
            </a:r>
            <a:r>
              <a:rPr lang="en-US" dirty="0"/>
              <a:t>– Updated table structure for better data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 Adjustments </a:t>
            </a:r>
            <a:r>
              <a:rPr lang="en-US" dirty="0"/>
              <a:t>– Refined messaging and report handling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Bug Fixing &amp; Testing</a:t>
            </a:r>
            <a:r>
              <a:rPr lang="en-US" dirty="0"/>
              <a:t> – Identified and resolved errors during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Integration Improvements</a:t>
            </a:r>
            <a:r>
              <a:rPr lang="en-US" dirty="0"/>
              <a:t> – Enhanced communication between frontend and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87" y="162252"/>
            <a:ext cx="7406640" cy="135636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Project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F05DE-1A2D-90F9-4A08-F40B401C6A67}"/>
              </a:ext>
            </a:extLst>
          </p:cNvPr>
          <p:cNvSpPr txBox="1"/>
          <p:nvPr/>
        </p:nvSpPr>
        <p:spPr>
          <a:xfrm>
            <a:off x="698204" y="1149280"/>
            <a:ext cx="6333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project was developed entirely using open-source tools.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7EEDF-484F-3F45-D4C3-13B636D0BA2B}"/>
              </a:ext>
            </a:extLst>
          </p:cNvPr>
          <p:cNvSpPr txBox="1"/>
          <p:nvPr/>
        </p:nvSpPr>
        <p:spPr>
          <a:xfrm>
            <a:off x="1256458" y="1684891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dirty="0"/>
              <a:t>Node.js – Free</a:t>
            </a:r>
          </a:p>
          <a:p>
            <a:r>
              <a:rPr lang="en-US" dirty="0"/>
              <a:t>Express.js – Free</a:t>
            </a:r>
          </a:p>
          <a:p>
            <a:r>
              <a:rPr lang="en-US" dirty="0"/>
              <a:t>MySQL – Free</a:t>
            </a:r>
          </a:p>
          <a:p>
            <a:r>
              <a:rPr lang="en-US" dirty="0"/>
              <a:t>VS Code – Free</a:t>
            </a:r>
          </a:p>
          <a:p>
            <a:endParaRPr lang="en-US" dirty="0"/>
          </a:p>
          <a:p>
            <a:r>
              <a:rPr lang="en-US" b="1" dirty="0"/>
              <a:t>Total Estimated Cost</a:t>
            </a:r>
            <a:r>
              <a:rPr lang="en-US" dirty="0"/>
              <a:t>: $0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4C08D2-D193-202C-A41E-BC4CF440B32D}"/>
              </a:ext>
            </a:extLst>
          </p:cNvPr>
          <p:cNvSpPr txBox="1"/>
          <p:nvPr/>
        </p:nvSpPr>
        <p:spPr>
          <a:xfrm>
            <a:off x="981739" y="16086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Software Used: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240" y="-68580"/>
            <a:ext cx="7406640" cy="135636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User Feedback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A85E5-CEB0-7F7C-E2B1-78F1DA292516}"/>
              </a:ext>
            </a:extLst>
          </p:cNvPr>
          <p:cNvSpPr txBox="1"/>
          <p:nvPr/>
        </p:nvSpPr>
        <p:spPr>
          <a:xfrm>
            <a:off x="483559" y="1041625"/>
            <a:ext cx="81768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conducted informal testing with several students of different colleges and universities who provided feedback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6DCD2-BD79-0EFD-01CA-79A3483ED678}"/>
              </a:ext>
            </a:extLst>
          </p:cNvPr>
          <p:cNvSpPr txBox="1"/>
          <p:nvPr/>
        </p:nvSpPr>
        <p:spPr>
          <a:xfrm>
            <a:off x="1261731" y="2331040"/>
            <a:ext cx="53907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Easy to use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Helpful for reporting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Messaging feature useful for 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01DAC9-2D3F-1DA0-A2F5-AF32BCD4D2EA}"/>
              </a:ext>
            </a:extLst>
          </p:cNvPr>
          <p:cNvSpPr txBox="1"/>
          <p:nvPr/>
        </p:nvSpPr>
        <p:spPr>
          <a:xfrm>
            <a:off x="698204" y="19383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Feedback highlights: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069FD-D9F9-0E5D-7DCF-16D63E87EEBB}"/>
              </a:ext>
            </a:extLst>
          </p:cNvPr>
          <p:cNvSpPr txBox="1"/>
          <p:nvPr/>
        </p:nvSpPr>
        <p:spPr>
          <a:xfrm>
            <a:off x="698204" y="33138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Suggested improvements: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5D08C0-F6EE-04CF-0938-CF89156F8336}"/>
              </a:ext>
            </a:extLst>
          </p:cNvPr>
          <p:cNvSpPr txBox="1"/>
          <p:nvPr/>
        </p:nvSpPr>
        <p:spPr>
          <a:xfrm>
            <a:off x="1346792" y="3820386"/>
            <a:ext cx="5652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329" y="174647"/>
            <a:ext cx="7406640" cy="135636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011FA-BE68-7A9D-BD34-EBC6CF426609}"/>
              </a:ext>
            </a:extLst>
          </p:cNvPr>
          <p:cNvSpPr txBox="1"/>
          <p:nvPr/>
        </p:nvSpPr>
        <p:spPr>
          <a:xfrm>
            <a:off x="382329" y="1549791"/>
            <a:ext cx="8438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Due to time constraints and resource limitations, some advanced features could not be implemented.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55FF19-97B8-605C-6BE6-777B1235FC22}"/>
              </a:ext>
            </a:extLst>
          </p:cNvPr>
          <p:cNvSpPr txBox="1"/>
          <p:nvPr/>
        </p:nvSpPr>
        <p:spPr>
          <a:xfrm>
            <a:off x="896679" y="2389554"/>
            <a:ext cx="51497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mobile application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AI-based mental health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real-time notification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user interface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scalability for large number of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152" y="0"/>
            <a:ext cx="7406640" cy="135636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/>
                </a:solidFill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F8AA2-DEF5-8FE7-7F92-56E70A532D34}"/>
              </a:ext>
            </a:extLst>
          </p:cNvPr>
          <p:cNvSpPr txBox="1"/>
          <p:nvPr/>
        </p:nvSpPr>
        <p:spPr>
          <a:xfrm>
            <a:off x="708395" y="10129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Possible improvements: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45A04-5E2A-C76A-0259-ADFDCDFAA48C}"/>
              </a:ext>
            </a:extLst>
          </p:cNvPr>
          <p:cNvSpPr txBox="1"/>
          <p:nvPr/>
        </p:nvSpPr>
        <p:spPr>
          <a:xfrm>
            <a:off x="1208568" y="1493344"/>
            <a:ext cx="52843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</a:t>
            </a:r>
            <a:r>
              <a:rPr lang="en-US" b="1" dirty="0"/>
              <a:t>mobile application </a:t>
            </a:r>
            <a:r>
              <a:rPr lang="en-US" dirty="0"/>
              <a:t>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</a:t>
            </a:r>
            <a:r>
              <a:rPr lang="en-US" b="1" dirty="0"/>
              <a:t>AI-based emotion detection </a:t>
            </a:r>
            <a:r>
              <a:rPr lang="en-US" dirty="0"/>
              <a:t>and </a:t>
            </a:r>
            <a:r>
              <a:rPr lang="en-US" b="1" dirty="0"/>
              <a:t>support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real-time chat </a:t>
            </a:r>
            <a:r>
              <a:rPr lang="en-US" dirty="0"/>
              <a:t>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b="1" dirty="0"/>
              <a:t>notification </a:t>
            </a:r>
            <a:r>
              <a:rPr lang="en-US" dirty="0"/>
              <a:t>and </a:t>
            </a:r>
            <a:r>
              <a:rPr lang="en-US" b="1" dirty="0"/>
              <a:t>alert</a:t>
            </a:r>
            <a:r>
              <a:rPr lang="en-US" dirty="0"/>
              <a:t>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</a:t>
            </a:r>
            <a:r>
              <a:rPr lang="en-US" b="1" dirty="0"/>
              <a:t>UI/UX design </a:t>
            </a:r>
            <a:r>
              <a:rPr lang="en-US" dirty="0"/>
              <a:t>for better user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integration with university counseling centers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</a:t>
            </a:r>
            <a:r>
              <a:rPr lang="en-US" b="1" dirty="0"/>
              <a:t>system scalability </a:t>
            </a:r>
            <a:r>
              <a:rPr lang="en-US" dirty="0"/>
              <a:t>and </a:t>
            </a:r>
            <a:r>
              <a:rPr lang="en-US" b="1" dirty="0"/>
              <a:t>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380" y="2367516"/>
            <a:ext cx="7406640" cy="135636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Thank you!</a:t>
            </a:r>
            <a:endParaRPr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244</TotalTime>
  <Words>1077</Words>
  <Application>Microsoft Office PowerPoint</Application>
  <PresentationFormat>On-screen Show (4:3)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 Display</vt:lpstr>
      <vt:lpstr>Arial</vt:lpstr>
      <vt:lpstr>Corbel</vt:lpstr>
      <vt:lpstr>Basis</vt:lpstr>
      <vt:lpstr>Mind Bridge: North South University Student Mental Health Support System</vt:lpstr>
      <vt:lpstr>Target Problem</vt:lpstr>
      <vt:lpstr>Proposed Solution</vt:lpstr>
      <vt:lpstr>Initial Planning</vt:lpstr>
      <vt:lpstr>System Architecture</vt:lpstr>
      <vt:lpstr>Database Design</vt:lpstr>
      <vt:lpstr>Backend Implementation</vt:lpstr>
      <vt:lpstr>Frontend Implementation</vt:lpstr>
      <vt:lpstr>Changes During Development</vt:lpstr>
      <vt:lpstr>Project Cost</vt:lpstr>
      <vt:lpstr>User Feedback</vt:lpstr>
      <vt:lpstr>Limitations</vt:lpstr>
      <vt:lpstr>Future Work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sumaiyariyana31@gmail.com</cp:lastModifiedBy>
  <cp:revision>36</cp:revision>
  <dcterms:created xsi:type="dcterms:W3CDTF">2013-01-27T09:14:16Z</dcterms:created>
  <dcterms:modified xsi:type="dcterms:W3CDTF">2026-04-28T07:47:12Z</dcterms:modified>
  <cp:category/>
</cp:coreProperties>
</file>